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02B63"/>
                </a:solidFill>
              </a:defRPr>
            </a:pPr>
            <a:r>
              <a:t>Sidekiq4D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Async Job Framework for Delphi</a:t>
            </a:r>
          </a:p>
          <a:p/>
          <a:p>
            <a:r>
              <a:t>github.com/herlondf/sidekiq4d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Loop manual: Get(1) + Sleep(15s) + Delete</a:t>
            </a:r>
          </a:p>
          <a:p>
            <a:pPr>
              <a:spcAft>
                <a:spcPts val="800"/>
              </a:spcAft>
              <a:defRPr sz="1800"/>
            </a:pPr>
            <a:r>
              <a:t>1 mensagem por vez — sequencial</a:t>
            </a:r>
          </a:p>
          <a:p>
            <a:pPr>
              <a:spcAft>
                <a:spcPts val="800"/>
              </a:spcAft>
              <a:defRPr sz="1800"/>
            </a:pPr>
            <a:r>
              <a:t>Sem retry estruturado — mensagens perdidas</a:t>
            </a:r>
          </a:p>
          <a:p>
            <a:pPr>
              <a:spcAft>
                <a:spcPts val="800"/>
              </a:spcAft>
              <a:defRPr sz="1800"/>
            </a:pPr>
            <a:r>
              <a:t>Sem concorrencia — CPU ociosa</a:t>
            </a:r>
          </a:p>
          <a:p>
            <a:pPr>
              <a:spcAft>
                <a:spcPts val="800"/>
              </a:spcAft>
              <a:defRPr sz="1800"/>
            </a:pPr>
            <a:r>
              <a:t>Sem observabilidade — impossivel monitorar</a:t>
            </a:r>
          </a:p>
          <a:p>
            <a:pPr>
              <a:spcAft>
                <a:spcPts val="800"/>
              </a:spcAft>
              <a:defRPr sz="1800"/>
            </a:pPr>
            <a:r>
              <a:t>Codigo espalhado — dificil testar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A Solucao: Sidekiq4D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API fluente: configuracao em 10 linhas</a:t>
            </a:r>
          </a:p>
          <a:p>
            <a:pPr>
              <a:spcAft>
                <a:spcPts val="800"/>
              </a:spcAft>
              <a:defRPr sz="1800"/>
            </a:pPr>
            <a:r>
              <a:t>Batch + Long-polling + Concorrencia</a:t>
            </a:r>
          </a:p>
          <a:p>
            <a:pPr>
              <a:spcAft>
                <a:spcPts val="800"/>
              </a:spcAft>
              <a:defRPr sz="1800"/>
            </a:pPr>
            <a:r>
              <a:t>Retry com backoff + Dead-letter automatico</a:t>
            </a:r>
          </a:p>
          <a:p>
            <a:pPr>
              <a:spcAft>
                <a:spcPts val="800"/>
              </a:spcAft>
              <a:defRPr sz="1800"/>
            </a:pPr>
            <a:r>
              <a:t>Telemetria de ciclo de vida integrada</a:t>
            </a:r>
          </a:p>
          <a:p>
            <a:pPr>
              <a:spcAft>
                <a:spcPts val="800"/>
              </a:spcAft>
              <a:defRPr sz="1800"/>
            </a:pPr>
            <a:r>
              <a:t>Seguro por padrao (Concurrency=1, ack apos sucesso)</a:t>
            </a:r>
          </a:p>
          <a:p>
            <a:pPr>
              <a:spcAft>
                <a:spcPts val="800"/>
              </a:spcAft>
              <a:defRPr sz="1800"/>
            </a:pPr>
            <a:r>
              <a:t>Extensivel: adapters, middlewares, stores plugaveis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02B63"/>
                </a:solidFill>
              </a:defRPr>
            </a:pPr>
            <a:r>
              <a:t>Antes vs Depois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Loop Manual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Sidekiq4D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Linhas de codigo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10-15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 msg/request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 msgs/request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Concorrencia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Nenhuma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1-N configuravel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Politica com backoff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Dead-letter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Automatico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Observabilidade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WriteLn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Eventos estruturados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Testabilidade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Dificil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Handlers isolados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02B63"/>
                </a:solidFill>
              </a:defRPr>
            </a:pPr>
            <a:r>
              <a:t>Benchmark Real — SQS LocalStack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Metrica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Sem Sidekiq4D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 Sidekiq4D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Ganho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3,6 msgs/s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15,1 msgs/s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4,2x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Tempo total (200 msgs)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56,1s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13,2s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4,3x mais rapido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Pico instantaneo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4,9 msgs/s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26,1 msgs/s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5,3x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Msgs por 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Idle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15s fixo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5s long-poll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App → TSidekiqServer (API fluente)</a:t>
            </a:r>
          </a:p>
          <a:p>
            <a:pPr>
              <a:spcAft>
                <a:spcPts val="800"/>
              </a:spcAft>
              <a:defRPr sz="1800"/>
            </a:pPr>
            <a:r>
              <a:t>  → ISidekiqQueueAdapter (SQS, RabbitMQ, Kafka, TCP...)</a:t>
            </a:r>
          </a:p>
          <a:p>
            <a:pPr>
              <a:spcAft>
                <a:spcPts val="800"/>
              </a:spcAft>
              <a:defRPr sz="1800"/>
            </a:pPr>
            <a:r>
              <a:t>  → ISidekiqJobDispatcher (routing por action)</a:t>
            </a:r>
          </a:p>
          <a:p>
            <a:pPr>
              <a:spcAft>
                <a:spcPts val="800"/>
              </a:spcAft>
              <a:defRPr sz="1800"/>
            </a:pPr>
            <a:r>
              <a:t>  → ISidekiqServerMiddleware[] (pipeline)</a:t>
            </a:r>
          </a:p>
          <a:p>
            <a:pPr>
              <a:spcAft>
                <a:spcPts val="800"/>
              </a:spcAft>
              <a:defRPr sz="1800"/>
            </a:pPr>
            <a:r>
              <a:t>  → TWorkerPool (N threads)</a:t>
            </a:r>
          </a:p>
          <a:p>
            <a:pPr>
              <a:spcAft>
                <a:spcPts val="800"/>
              </a:spcAft>
              <a:defRPr sz="1800"/>
            </a:pPr>
            <a:r>
              <a:t>  → ISidekiqJobHandler.Perform()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Providers: StateStore, Lock, Retry, Telemetry, Idempotency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02B63"/>
                </a:solidFill>
              </a:defRPr>
            </a:pPr>
            <a:r>
              <a:t>Queue Adapters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Adapter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Protocolo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Cenario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Testes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AWS HTTP + Sig 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AWS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RabbitMQ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HTTP Management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On-premise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Confluent REST 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Streaming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Azure Service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Azure REST + 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Azure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Google Pub/Sub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Google REST + Bearer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GCP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Redis 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Redis4D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Redis como broker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HTTP Ingress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Indy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Webhooks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Indy ou Synapse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Apps legadas, IoT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Features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Batch configuravel (1-10 msgs/fetch)</a:t>
            </a:r>
          </a:p>
          <a:p>
            <a:pPr>
              <a:spcAft>
                <a:spcPts val="800"/>
              </a:spcAft>
              <a:defRPr sz="1800"/>
            </a:pPr>
            <a:r>
              <a:t>Long-polling (WaitTimeSeconds)</a:t>
            </a:r>
          </a:p>
          <a:p>
            <a:pPr>
              <a:spcAft>
                <a:spcPts val="800"/>
              </a:spcAft>
              <a:defRPr sz="1800"/>
            </a:pPr>
            <a:r>
              <a:t>Concorrencia global, por fila e por action</a:t>
            </a:r>
          </a:p>
          <a:p>
            <a:pPr>
              <a:spcAft>
                <a:spcPts val="800"/>
              </a:spcAft>
              <a:defRPr sz="1800"/>
            </a:pPr>
            <a:r>
              <a:t>Retry com backoff exponencial</a:t>
            </a:r>
          </a:p>
          <a:p>
            <a:pPr>
              <a:spcAft>
                <a:spcPts val="800"/>
              </a:spcAft>
              <a:defRPr sz="1800"/>
            </a:pPr>
            <a:r>
              <a:t>Dead-letter queue automatico</a:t>
            </a:r>
          </a:p>
          <a:p>
            <a:pPr>
              <a:spcAft>
                <a:spcPts val="800"/>
              </a:spcAft>
              <a:defRPr sz="1800"/>
            </a:pPr>
            <a:r>
              <a:t>Shutdown gracioso (sem jobs perdidos)</a:t>
            </a:r>
          </a:p>
          <a:p>
            <a:pPr>
              <a:spcAft>
                <a:spcPts val="800"/>
              </a:spcAft>
              <a:defRPr sz="1800"/>
            </a:pPr>
            <a:r>
              <a:t>Visibility timeout + renewal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Features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Scheduled Jobs — EnqueueIn(delay) / EnqueueAt(datetime)</a:t>
            </a:r>
          </a:p>
          <a:p>
            <a:pPr>
              <a:spcAft>
                <a:spcPts val="800"/>
              </a:spcAft>
              <a:defRPr sz="1800"/>
            </a:pPr>
            <a:r>
              <a:t>Periodic Jobs — Cron nativo (5 campos)</a:t>
            </a:r>
          </a:p>
          <a:p>
            <a:pPr>
              <a:spcAft>
                <a:spcPts val="800"/>
              </a:spcAft>
              <a:defRPr sz="1800"/>
            </a:pPr>
            <a:r>
              <a:t>Batch Jobs — OnComplete / OnSuccess callbacks</a:t>
            </a:r>
          </a:p>
          <a:p>
            <a:pPr>
              <a:spcAft>
                <a:spcPts val="800"/>
              </a:spcAft>
              <a:defRPr sz="1800"/>
            </a:pPr>
            <a:r>
              <a:t>Unique Jobs — Deduplicacao por chave</a:t>
            </a:r>
          </a:p>
          <a:p>
            <a:pPr>
              <a:spcAft>
                <a:spcPts val="800"/>
              </a:spcAft>
              <a:defRPr sz="1800"/>
            </a:pPr>
            <a:r>
              <a:t>Rate Limiting — Token bucket por action/chave</a:t>
            </a:r>
          </a:p>
          <a:p>
            <a:pPr>
              <a:spcAft>
                <a:spcPts val="800"/>
              </a:spcAft>
              <a:defRPr sz="1800"/>
            </a:pPr>
            <a:r>
              <a:t>Idempotency — Prevencao de duplicatas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Features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Leader Election — singleton operations em cluster</a:t>
            </a:r>
          </a:p>
          <a:p>
            <a:pPr>
              <a:spcAft>
                <a:spcPts val="800"/>
              </a:spcAft>
              <a:defRPr sz="1800"/>
            </a:pPr>
            <a:r>
              <a:t>Client Reliability — outbox pattern (crash recovery)</a:t>
            </a:r>
          </a:p>
          <a:p>
            <a:pPr>
              <a:spcAft>
                <a:spcPts val="800"/>
              </a:spcAft>
              <a:defRPr sz="1800"/>
            </a:pPr>
            <a:r>
              <a:t>Server Reliability — heartbeat + stale recovery</a:t>
            </a:r>
          </a:p>
          <a:p>
            <a:pPr>
              <a:spcAft>
                <a:spcPts val="800"/>
              </a:spcAft>
              <a:defRPr sz="1800"/>
            </a:pPr>
            <a:r>
              <a:t>Rolling Restarts — drain gracioso</a:t>
            </a:r>
          </a:p>
          <a:p>
            <a:pPr>
              <a:spcAft>
                <a:spcPts val="800"/>
              </a:spcAft>
              <a:defRPr sz="1800"/>
            </a:pPr>
            <a:r>
              <a:t>Pause/Resume — controle operacional de filas</a:t>
            </a:r>
          </a:p>
          <a:p>
            <a:pPr>
              <a:spcAft>
                <a:spcPts val="800"/>
              </a:spcAft>
              <a:defRPr sz="1800"/>
            </a:pPr>
            <a:r>
              <a:t>Circuit Breaker — protecao de providers externos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02B63"/>
                </a:solidFill>
              </a:defRPr>
            </a:pPr>
            <a:r>
              <a:t>Middlewares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Middleware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Funcao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JSON estruturado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Abort apos N 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Skip duplicatas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Client+Server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ZLib no body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Prometheus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Counters + histogram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Circuit Breaker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Open/closed/half-open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02B63"/>
                </a:solidFill>
              </a:defRPr>
            </a:pPr>
            <a:r>
              <a:t>State Stores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Store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Dependencia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Cenario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Nenhuma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Testes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FireDAC (incluso)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Single-process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FireDAC + libpq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Multi-processo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Redis4D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Alta performance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MongoDB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HTTP (Atlas 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Cloud-native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Telemetria &amp; Observabilidade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Eventos: started, succeeded, failed, retried, dead_lettered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Implementacoes incluidas:</a:t>
            </a:r>
          </a:p>
          <a:p>
            <a:pPr>
              <a:spcAft>
                <a:spcPts val="800"/>
              </a:spcAft>
              <a:defRPr sz="1800"/>
            </a:pPr>
            <a:r>
              <a:t>  • Console (desenvolvimento)</a:t>
            </a:r>
          </a:p>
          <a:p>
            <a:pPr>
              <a:spcAft>
                <a:spcPts val="800"/>
              </a:spcAft>
              <a:defRPr sz="1800"/>
            </a:pPr>
            <a:r>
              <a:t>  • StatsD / DogStatsD (producao)</a:t>
            </a:r>
          </a:p>
          <a:p>
            <a:pPr>
              <a:spcAft>
                <a:spcPts val="800"/>
              </a:spcAft>
              <a:defRPr sz="1800"/>
            </a:pPr>
            <a:r>
              <a:t>  • Historical metrics (time-bucketed)</a:t>
            </a:r>
          </a:p>
          <a:p>
            <a:pPr>
              <a:spcAft>
                <a:spcPts val="800"/>
              </a:spcAft>
              <a:defRPr sz="1800"/>
            </a:pPr>
            <a:r>
              <a:t>  • Composite (combine multiplos)</a:t>
            </a:r>
          </a:p>
          <a:p>
            <a:pPr>
              <a:spcAft>
                <a:spcPts val="800"/>
              </a:spcAft>
              <a:defRPr sz="1800"/>
            </a:pPr>
            <a:r>
              <a:t>  • Prometheus middleware (/metrics)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02B63"/>
                </a:solidFill>
              </a:defRPr>
            </a:pPr>
            <a:r>
              <a:t>Sidekiq4D vs Sidekiq Ruby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OSS (free)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 ($99/mo)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Enterprise ($179/mo)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Sidekiq4D (free)</a:t>
                      </a:r>
                    </a:p>
                  </a:txBody>
                  <a:tcPr>
                    <a:solidFill>
                      <a:srgbClr val="30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Jobs + 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Scheduled + Cron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Middleware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Batch + Callbacks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Unique + Rate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Leader + Rolling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Pause + Circuit Breaker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Casos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Workers SQS (NFSe, NFe, NFCe)</a:t>
            </a:r>
          </a:p>
          <a:p>
            <a:pPr>
              <a:spcAft>
                <a:spcPts val="800"/>
              </a:spcAft>
              <a:defRPr sz="1800"/>
            </a:pPr>
            <a:r>
              <a:t>Agente de telemetria (HTTP → Elasticsearch/Datadog/OTLP)</a:t>
            </a:r>
          </a:p>
          <a:p>
            <a:pPr>
              <a:spcAft>
                <a:spcPts val="800"/>
              </a:spcAft>
              <a:defRPr sz="1800"/>
            </a:pPr>
            <a:r>
              <a:t>Email sender com rate limit</a:t>
            </a:r>
          </a:p>
          <a:p>
            <a:pPr>
              <a:spcAft>
                <a:spcPts val="800"/>
              </a:spcAft>
              <a:defRPr sz="1800"/>
            </a:pPr>
            <a:r>
              <a:t>PDF generator com batch + callback</a:t>
            </a:r>
          </a:p>
          <a:p>
            <a:pPr>
              <a:spcAft>
                <a:spcPts val="800"/>
              </a:spcAft>
              <a:defRPr sz="1800"/>
            </a:pPr>
            <a:r>
              <a:t>Webhook dispatcher com circuit breaker</a:t>
            </a:r>
          </a:p>
          <a:p>
            <a:pPr>
              <a:spcAft>
                <a:spcPts val="800"/>
              </a:spcAft>
              <a:defRPr sz="1800"/>
            </a:pPr>
            <a:r>
              <a:t>ETL pipeline com job chaining</a:t>
            </a:r>
          </a:p>
          <a:p>
            <a:pPr>
              <a:spcAft>
                <a:spcPts val="800"/>
              </a:spcAft>
              <a:defRPr sz="1800"/>
            </a:pPr>
            <a:r>
              <a:t>Notification hub multi-canal</a:t>
            </a:r>
          </a:p>
          <a:p>
            <a:pPr>
              <a:spcAft>
                <a:spcPts val="800"/>
              </a:spcAft>
              <a:defRPr sz="1800"/>
            </a:pPr>
            <a:r>
              <a:t>IoT data collector (TCP adapter)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1. Clone: git clone github.com/herlondf/sidekiq4d</a:t>
            </a:r>
          </a:p>
          <a:p>
            <a:pPr>
              <a:spcAft>
                <a:spcPts val="800"/>
              </a:spcAft>
              <a:defRPr sz="1800"/>
            </a:pPr>
            <a:r>
              <a:t>2. Adicione src/ ao search path</a:t>
            </a:r>
          </a:p>
          <a:p>
            <a:pPr>
              <a:spcAft>
                <a:spcPts val="800"/>
              </a:spcAft>
              <a:defRPr sz="1800"/>
            </a:pPr>
            <a:r>
              <a:t>3. Crie handler: ISidekiqJobHandler (CanHandle + Perform)</a:t>
            </a:r>
          </a:p>
          <a:p>
            <a:pPr>
              <a:spcAft>
                <a:spcPts val="800"/>
              </a:spcAft>
              <a:defRPr sz="1800"/>
            </a:pPr>
            <a:r>
              <a:t>4. Configure: TSidekiqServer.New.UseQueue(...).RegisterHandler(...).Run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Pronto. 4 passos, menos de 20 linhas.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21 Demos Incluidos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BasicConsole, ScheduledJobs, BatchJobs, ConcurrencyControl</a:t>
            </a:r>
          </a:p>
          <a:p>
            <a:pPr>
              <a:spcAft>
                <a:spcPts val="800"/>
              </a:spcAft>
              <a:defRPr sz="1800"/>
            </a:pPr>
            <a:r>
              <a:t>Middleware, Reliability, RetryDLQ</a:t>
            </a:r>
          </a:p>
          <a:p>
            <a:pPr>
              <a:spcAft>
                <a:spcPts val="800"/>
              </a:spcAft>
              <a:defRPr sz="1800"/>
            </a:pPr>
            <a:r>
              <a:t>SQLite, Postgres, Redis, MongoDB</a:t>
            </a:r>
          </a:p>
          <a:p>
            <a:pPr>
              <a:spcAft>
                <a:spcPts val="800"/>
              </a:spcAft>
              <a:defRPr sz="1800"/>
            </a:pPr>
            <a:r>
              <a:t>WindowsService, SqsConsole, HTTPIngress, CircuitBreaker</a:t>
            </a:r>
          </a:p>
          <a:p>
            <a:pPr>
              <a:spcAft>
                <a:spcPts val="800"/>
              </a:spcAft>
              <a:defRPr sz="1800"/>
            </a:pPr>
            <a:r>
              <a:t>TelemetryAgent, EmailSender, PDFGenerator</a:t>
            </a:r>
          </a:p>
          <a:p>
            <a:pPr>
              <a:spcAft>
                <a:spcPts val="800"/>
              </a:spcAft>
              <a:defRPr sz="1800"/>
            </a:pPr>
            <a:r>
              <a:t>WebhookDispatcher, ETLPipeline, NotificationHub</a:t>
            </a:r>
          </a:p>
          <a:p>
            <a:pPr>
              <a:spcAft>
                <a:spcPts val="800"/>
              </a:spcAft>
              <a:defRPr sz="1800"/>
            </a:pPr>
            <a:r>
              <a:t>SQSBenchmark (comparativo com/sem)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Dashboard web (real-time monitoring)</a:t>
            </a:r>
          </a:p>
          <a:p>
            <a:pPr>
              <a:spcAft>
                <a:spcPts val="800"/>
              </a:spcAft>
              <a:defRPr sz="1800"/>
            </a:pPr>
            <a:r>
              <a:t>Adapter NATS / Apache Pulsar</a:t>
            </a:r>
          </a:p>
          <a:p>
            <a:pPr>
              <a:spcAft>
                <a:spcPts val="800"/>
              </a:spcAft>
              <a:defRPr sz="1800"/>
            </a:pPr>
            <a:r>
              <a:t>OpenTelemetry nativo (traces + metrics)</a:t>
            </a:r>
          </a:p>
          <a:p>
            <a:pPr>
              <a:spcAft>
                <a:spcPts val="800"/>
              </a:spcAft>
              <a:defRPr sz="1800"/>
            </a:pPr>
            <a:r>
              <a:t>Client SDK cross-language</a:t>
            </a:r>
          </a:p>
          <a:p>
            <a:pPr>
              <a:spcAft>
                <a:spcPts val="800"/>
              </a:spcAft>
              <a:defRPr sz="1800"/>
            </a:pPr>
            <a:r>
              <a:t>Delphi package manager (Boss / Delphinus)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02B63"/>
                </a:solidFill>
              </a:defRPr>
            </a:pPr>
            <a:r>
              <a:t>Contribuindo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License: BSD</a:t>
            </a:r>
          </a:p>
          <a:p>
            <a:pPr>
              <a:spcAft>
                <a:spcPts val="800"/>
              </a:spcAft>
              <a:defRPr sz="1800"/>
            </a:pPr>
            <a:r>
              <a:t>GitHub: github.com/herlondf/sidekiq4d</a:t>
            </a:r>
          </a:p>
          <a:p>
            <a:pPr>
              <a:spcAft>
                <a:spcPts val="800"/>
              </a:spcAft>
              <a:defRPr sz="1800"/>
            </a:pPr>
            <a:r>
              <a:t>Issues: bug reports, feature requests</a:t>
            </a:r>
          </a:p>
          <a:p>
            <a:pPr>
              <a:spcAft>
                <a:spcPts val="800"/>
              </a:spcAft>
              <a:defRPr sz="1800"/>
            </a:pPr>
            <a:r>
              <a:t>PRs: novos adapters, middlewares, stores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Padroes: interfaces, fluent API, class function New</a:t>
            </a:r>
          </a:p>
          <a:p>
            <a:pPr>
              <a:spcAft>
                <a:spcPts val="800"/>
              </a:spcAft>
              <a:defRPr sz="1800"/>
            </a:pPr>
            <a:r>
              <a:t>Thread-safety: TCriticalSection / TInterlocked / TThreadedQueue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02B63"/>
                </a:solidFill>
              </a:defRPr>
            </a:pPr>
            <a:r>
              <a:t>Sidekiq4D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Async Job Framework for Delphi</a:t>
            </a:r>
          </a:p>
          <a:p/>
          <a:p>
            <a:r>
              <a:t>4x mais rapido que loop manual</a:t>
            </a:r>
          </a:p>
          <a:p>
            <a:r>
              <a:t>Todas as features Pro + Enterprise — gratis</a:t>
            </a:r>
          </a:p>
          <a:p/>
          <a:p>
            <a:r>
              <a:t>github.com/herlondf/sidekiq4d</a:t>
            </a:r>
          </a:p>
          <a:p/>
          <a:p>
            <a:r>
              <a:t>⭐ Star the repo!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